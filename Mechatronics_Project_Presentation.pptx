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2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395412"/>
            <a:ext cx="7772400" cy="1470025"/>
          </a:xfrm>
        </p:spPr>
        <p:txBody>
          <a:bodyPr/>
          <a:lstStyle/>
          <a:p>
            <a:r>
              <a:rPr dirty="0"/>
              <a:t>Predictive Maintenance for Mechatronics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37781"/>
            <a:ext cx="6400800" cy="2630010"/>
          </a:xfrm>
        </p:spPr>
        <p:txBody>
          <a:bodyPr>
            <a:normAutofit/>
          </a:bodyPr>
          <a:lstStyle/>
          <a:p>
            <a:r>
              <a:rPr dirty="0"/>
              <a:t>Using Machine Learning to Prevent Industrial Equipment Failure</a:t>
            </a:r>
            <a:endParaRPr lang="en-US" dirty="0"/>
          </a:p>
          <a:p>
            <a:r>
              <a:rPr lang="en-US" sz="2400" b="1" u="sng" dirty="0">
                <a:solidFill>
                  <a:schemeClr val="tx1"/>
                </a:solidFill>
              </a:rPr>
              <a:t>Presented By:</a:t>
            </a:r>
            <a:endParaRPr sz="2400" b="1" u="sng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Omar Emad Ibrahim Hamdi Elmanhy</a:t>
            </a:r>
          </a:p>
          <a:p>
            <a:r>
              <a:rPr lang="en-US" sz="2000" dirty="0">
                <a:solidFill>
                  <a:schemeClr val="tx1"/>
                </a:solidFill>
              </a:rPr>
              <a:t>Ali Mohamed Ali Sheashae</a:t>
            </a:r>
          </a:p>
          <a:p>
            <a:r>
              <a:rPr lang="en-US" sz="2000" dirty="0">
                <a:solidFill>
                  <a:schemeClr val="tx1"/>
                </a:solidFill>
              </a:rPr>
              <a:t>Zaid Walid Mohamed Soliman</a:t>
            </a: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4EE40-8DA1-4231-ABD9-A935FCD1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991" y="-172344"/>
            <a:ext cx="1641581" cy="16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• The Challenge: Unexpected failure in industrial milling machines causes costly downtime and safety risks.</a:t>
            </a:r>
          </a:p>
          <a:p>
            <a:pPr marL="0" indent="0">
              <a:buNone/>
            </a:pPr>
            <a:r>
              <a:rPr sz="1800" dirty="0"/>
              <a:t>• Our Goal: Build a system that predicts machine failure before it happens using sensor data.</a:t>
            </a:r>
          </a:p>
          <a:p>
            <a:pPr marL="0" indent="0">
              <a:buNone/>
            </a:pPr>
            <a:r>
              <a:rPr sz="1800" dirty="0"/>
              <a:t>• The Impact: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sz="1800" dirty="0"/>
              <a:t>   - Reduces maintenance costs.</a:t>
            </a:r>
          </a:p>
          <a:p>
            <a:pPr marL="0" indent="0">
              <a:buNone/>
            </a:pPr>
            <a:r>
              <a:rPr sz="1800" dirty="0"/>
              <a:t>    - Increases factory efficiency.</a:t>
            </a:r>
          </a:p>
          <a:p>
            <a:pPr marL="0" indent="0">
              <a:buNone/>
            </a:pPr>
            <a:r>
              <a:rPr sz="1800" dirty="0"/>
              <a:t>    - Moves from 'Reactive' to 'Proactive'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• Source: AI4I 2020 Predictive Maintenance Dataset (UCI Machine Learning Repository).</a:t>
            </a:r>
          </a:p>
          <a:p>
            <a:pPr marL="0" indent="0">
              <a:buNone/>
            </a:pPr>
            <a:r>
              <a:rPr sz="1800" dirty="0"/>
              <a:t>• Volume: 10,000 data points representing individual machine cycles.</a:t>
            </a:r>
          </a:p>
          <a:p>
            <a:pPr marL="0" indent="0">
              <a:buNone/>
            </a:pPr>
            <a:r>
              <a:rPr sz="1800" dirty="0"/>
              <a:t>• Key Sensor Inputs (Features):</a:t>
            </a:r>
          </a:p>
          <a:p>
            <a:pPr marL="0" indent="0">
              <a:buNone/>
            </a:pPr>
            <a:r>
              <a:rPr sz="1800" dirty="0"/>
              <a:t>    - Torque [Nm]: Force applied during operation.</a:t>
            </a:r>
          </a:p>
          <a:p>
            <a:pPr marL="0" indent="0">
              <a:buNone/>
            </a:pPr>
            <a:r>
              <a:rPr sz="1800" dirty="0"/>
              <a:t>    - Rotational Speed [rpm]: Spindle speed.</a:t>
            </a:r>
          </a:p>
          <a:p>
            <a:pPr marL="0" indent="0">
              <a:buNone/>
            </a:pPr>
            <a:r>
              <a:rPr sz="1800" dirty="0"/>
              <a:t>    - Temperatures [K]: Air and Process temperatures.</a:t>
            </a:r>
          </a:p>
          <a:p>
            <a:pPr marL="0" indent="0">
              <a:buNone/>
            </a:pPr>
            <a:r>
              <a:rPr sz="1800" dirty="0"/>
              <a:t>    - Tool Wear [min]: Usage duration.</a:t>
            </a:r>
          </a:p>
          <a:p>
            <a:pPr marL="0" indent="0">
              <a:buNone/>
            </a:pPr>
            <a:r>
              <a:rPr sz="1800" dirty="0"/>
              <a:t>• Target: Machine Failure (0 = No, 1 = Yes).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• Tech Stack:</a:t>
            </a:r>
          </a:p>
          <a:p>
            <a:pPr marL="0" indent="0">
              <a:buNone/>
            </a:pPr>
            <a:r>
              <a:rPr sz="1800" dirty="0"/>
              <a:t>    - Language: Python (Data Science Standard)</a:t>
            </a:r>
          </a:p>
          <a:p>
            <a:pPr marL="0" indent="0">
              <a:buNone/>
            </a:pPr>
            <a:r>
              <a:rPr sz="1800" dirty="0"/>
              <a:t>    - Cloud: </a:t>
            </a:r>
            <a:r>
              <a:rPr lang="en-US" sz="1800" b="1" dirty="0"/>
              <a:t>Google Collab</a:t>
            </a:r>
            <a:r>
              <a:rPr lang="en-US" sz="1800" dirty="0"/>
              <a:t> (Cloud-based Jupyter Notebooks)</a:t>
            </a:r>
            <a:r>
              <a:rPr sz="1800" dirty="0"/>
              <a:t>for deployment</a:t>
            </a:r>
          </a:p>
          <a:p>
            <a:pPr marL="0" indent="0">
              <a:buNone/>
            </a:pPr>
            <a:r>
              <a:rPr sz="1800" dirty="0"/>
              <a:t>• Algorithm: Random Forest Classifier</a:t>
            </a:r>
          </a:p>
          <a:p>
            <a:pPr marL="0" indent="0">
              <a:buNone/>
            </a:pPr>
            <a:r>
              <a:rPr sz="1800" dirty="0"/>
              <a:t>• Why Random Forest?</a:t>
            </a:r>
          </a:p>
          <a:p>
            <a:pPr marL="0" indent="0">
              <a:buNone/>
            </a:pPr>
            <a:r>
              <a:rPr sz="1800" dirty="0"/>
              <a:t>    - Robust against 'noise' in sensor data.</a:t>
            </a:r>
          </a:p>
          <a:p>
            <a:pPr marL="0" indent="0">
              <a:buNone/>
            </a:pPr>
            <a:r>
              <a:rPr sz="1800" dirty="0"/>
              <a:t>    - Handles non-linear relationships (e.g. High Torque + Low Speed).</a:t>
            </a:r>
          </a:p>
          <a:p>
            <a:pPr marL="0" indent="0">
              <a:buNone/>
            </a:pPr>
            <a:r>
              <a:rPr sz="1800" dirty="0"/>
              <a:t>    - Uses voting from 100+ decision trees.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Data Science Life Cycle Steps:</a:t>
            </a:r>
          </a:p>
          <a:p>
            <a:endParaRPr sz="1800" dirty="0"/>
          </a:p>
          <a:p>
            <a:pPr marL="0" indent="0">
              <a:buNone/>
            </a:pPr>
            <a:r>
              <a:rPr sz="1800" dirty="0"/>
              <a:t>1. Data Cleaning: Removed non-physical columns (ID, Serial).</a:t>
            </a:r>
          </a:p>
          <a:p>
            <a:pPr marL="0" indent="0">
              <a:buNone/>
            </a:pPr>
            <a:r>
              <a:rPr sz="1800" dirty="0"/>
              <a:t>2. Splitting: 80% Training / 20% Testing.</a:t>
            </a:r>
          </a:p>
          <a:p>
            <a:pPr marL="0" indent="0">
              <a:buNone/>
            </a:pPr>
            <a:r>
              <a:rPr sz="1800" dirty="0"/>
              <a:t>3. Training: Model learned from physical sensor patterns.</a:t>
            </a:r>
          </a:p>
          <a:p>
            <a:pPr marL="0" indent="0">
              <a:buNone/>
            </a:pPr>
            <a:r>
              <a:rPr sz="1800" dirty="0"/>
              <a:t>4. Evaluation: Tested on unseen data.</a:t>
            </a:r>
          </a:p>
          <a:p>
            <a:endParaRPr sz="1800" dirty="0"/>
          </a:p>
          <a:p>
            <a:pPr marL="0" indent="0">
              <a:buNone/>
            </a:pPr>
            <a:r>
              <a:rPr lang="en-US" sz="1800" dirty="0"/>
              <a:t>The code is displayed in the next slide.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F90F6A-C8E6-433A-AE5E-19B74F0F69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274" y="0"/>
            <a:ext cx="7481452" cy="6858000"/>
          </a:xfrm>
        </p:spPr>
      </p:pic>
    </p:spTree>
    <p:extLst>
      <p:ext uri="{BB962C8B-B14F-4D97-AF65-F5344CB8AC3E}">
        <p14:creationId xmlns:p14="http://schemas.microsoft.com/office/powerpoint/2010/main" val="242394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• Overall Accuracy: 98.35%</a:t>
            </a:r>
          </a:p>
          <a:p>
            <a:endParaRPr sz="1800" dirty="0"/>
          </a:p>
          <a:p>
            <a:pPr marL="0" indent="0">
              <a:buNone/>
            </a:pPr>
            <a:r>
              <a:rPr sz="1800" dirty="0"/>
              <a:t>• Performance Breakdown:</a:t>
            </a:r>
          </a:p>
          <a:p>
            <a:pPr marL="0" indent="0">
              <a:buNone/>
            </a:pPr>
            <a:r>
              <a:rPr sz="1800" dirty="0"/>
              <a:t>    - True Positives: Caught 36 failures before they occurred.</a:t>
            </a:r>
          </a:p>
          <a:p>
            <a:pPr marL="0" indent="0">
              <a:buNone/>
            </a:pPr>
            <a:r>
              <a:rPr sz="1800" dirty="0"/>
              <a:t>    - False Alarms: Only 8 false warnings.</a:t>
            </a:r>
          </a:p>
          <a:p>
            <a:pPr marL="0" indent="0">
              <a:buNone/>
            </a:pPr>
            <a:r>
              <a:rPr sz="1800" dirty="0"/>
              <a:t>    - Missed Failures: 25 instances (due to data imbalance).</a:t>
            </a:r>
          </a:p>
          <a:p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8241C-D351-4CC7-8AEF-984F17A46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31" y="3795670"/>
            <a:ext cx="3685316" cy="2787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/>
              <a:t>• Address Data Imbalance: Use SMOTE (Synthetic Minority Over-sampling) to catch missed failures.</a:t>
            </a:r>
          </a:p>
          <a:p>
            <a:pPr marL="0" indent="0">
              <a:buNone/>
            </a:pPr>
            <a:r>
              <a:rPr sz="1800" dirty="0"/>
              <a:t>• Real-Time Dashboard: Build a </a:t>
            </a:r>
            <a:r>
              <a:rPr sz="1800" dirty="0" err="1"/>
              <a:t>Streamlit</a:t>
            </a:r>
            <a:r>
              <a:rPr sz="1800" dirty="0"/>
              <a:t> web app for live monitoring.</a:t>
            </a:r>
          </a:p>
          <a:p>
            <a:pPr marL="0" indent="0">
              <a:buNone/>
            </a:pPr>
            <a:r>
              <a:rPr sz="1800" dirty="0"/>
              <a:t>• IoT Integration: Connect model directly to PLC controllers for automated stops.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/>
              <a:t>• Summary: Sensor data is a reliable predictor of machine health.</a:t>
            </a:r>
          </a:p>
          <a:p>
            <a:pPr marL="0" indent="0">
              <a:buNone/>
            </a:pPr>
            <a:r>
              <a:rPr sz="1800" dirty="0"/>
              <a:t>• Outcome: A deployed Python model with 98% accuracy.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 algn="ctr">
              <a:buNone/>
            </a:pPr>
            <a:r>
              <a:rPr lang="en-US" sz="4400" dirty="0"/>
              <a:t>Thank You</a:t>
            </a:r>
          </a:p>
          <a:p>
            <a:pPr marL="0" indent="0" algn="ctr">
              <a:buNone/>
            </a:pPr>
            <a:endParaRPr lang="en-US" sz="4400" dirty="0"/>
          </a:p>
          <a:p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447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Predictive Maintenance for Mechatronics Systems</vt:lpstr>
      <vt:lpstr>Problem Statement</vt:lpstr>
      <vt:lpstr>The Data Source</vt:lpstr>
      <vt:lpstr>Methodology &amp; Technology</vt:lpstr>
      <vt:lpstr>Implementation (Code)</vt:lpstr>
      <vt:lpstr>PowerPoint Presentation</vt:lpstr>
      <vt:lpstr>Results &amp; Analysis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for Mechatronics Systems</dc:title>
  <dc:subject/>
  <dc:creator>Omar Emad</dc:creator>
  <cp:keywords/>
  <dc:description>generated using python-pptx</dc:description>
  <cp:lastModifiedBy>Omar Emad</cp:lastModifiedBy>
  <cp:revision>4</cp:revision>
  <dcterms:created xsi:type="dcterms:W3CDTF">2013-01-27T09:14:16Z</dcterms:created>
  <dcterms:modified xsi:type="dcterms:W3CDTF">2025-12-20T15:57:53Z</dcterms:modified>
  <cp:category/>
</cp:coreProperties>
</file>